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c9094f882fc4205" /><Relationship Type="http://schemas.openxmlformats.org/officeDocument/2006/relationships/extended-properties" Target="/docProps/app.xml" Id="R061219e5c9a54bc1" /><Relationship Type="http://schemas.openxmlformats.org/officeDocument/2006/relationships/officeDocument" Target="/ppt/presentation.xml" Id="R0284f76e27ec42a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02e2c4a9aef4283"/>
  </p:sldMasterIdLst>
  <p:notesMasterIdLst>
    <p:notesMasterId xmlns:r="http://schemas.openxmlformats.org/officeDocument/2006/relationships" r:id="R5a95ea76ef584ef1"/>
  </p:notesMasterIdLst>
  <p:sldIdLst>
    <p:sldId xmlns:r="http://schemas.openxmlformats.org/officeDocument/2006/relationships" id="256" r:id="Re6e9648d98014378"/>
    <p:sldId xmlns:r="http://schemas.openxmlformats.org/officeDocument/2006/relationships" id="257" r:id="Rf2efd7135f514768"/>
    <p:sldId xmlns:r="http://schemas.openxmlformats.org/officeDocument/2006/relationships" id="258" r:id="R25ace7764bfb44d9"/>
    <p:sldId xmlns:r="http://schemas.openxmlformats.org/officeDocument/2006/relationships" id="259" r:id="Rcb20cb0f122c4184"/>
    <p:sldId xmlns:r="http://schemas.openxmlformats.org/officeDocument/2006/relationships" id="260" r:id="R2281b850cb434c60"/>
    <p:sldId xmlns:r="http://schemas.openxmlformats.org/officeDocument/2006/relationships" id="261" r:id="R3af259ec402a4877"/>
    <p:sldId xmlns:r="http://schemas.openxmlformats.org/officeDocument/2006/relationships" id="262" r:id="Rf6cf67b6adf54f45"/>
    <p:sldId xmlns:r="http://schemas.openxmlformats.org/officeDocument/2006/relationships" id="263" r:id="Rcb39075118dd423f"/>
    <p:sldId xmlns:r="http://schemas.openxmlformats.org/officeDocument/2006/relationships" id="264" r:id="R8d0cf89415dc42c7"/>
    <p:sldId xmlns:r="http://schemas.openxmlformats.org/officeDocument/2006/relationships" id="265" r:id="R4f311a6d4a374a2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0e75a0d4b6c4412" /><Relationship Type="http://schemas.openxmlformats.org/officeDocument/2006/relationships/slideMaster" Target="/ppt/slideMasters/slideMaster1.xml" Id="R802e2c4a9aef4283" /><Relationship Type="http://schemas.openxmlformats.org/officeDocument/2006/relationships/notesMaster" Target="/ppt/notesMasters/notesMaster1.xml" Id="R5a95ea76ef584ef1" /><Relationship Type="http://schemas.openxmlformats.org/officeDocument/2006/relationships/presProps" Target="/ppt/presProps.xml" Id="Rc5f73bea6e764ec2" /><Relationship Type="http://schemas.openxmlformats.org/officeDocument/2006/relationships/tableStyles" Target="/ppt/tableStyles.xml" Id="R09ef7de080c0465e" /><Relationship Type="http://schemas.openxmlformats.org/officeDocument/2006/relationships/slide" Target="/ppt/slides/slide1.xml" Id="Re6e9648d98014378" /><Relationship Type="http://schemas.openxmlformats.org/officeDocument/2006/relationships/slide" Target="/ppt/slides/slide2.xml" Id="Rf2efd7135f514768" /><Relationship Type="http://schemas.openxmlformats.org/officeDocument/2006/relationships/slide" Target="/ppt/slides/slide3.xml" Id="R25ace7764bfb44d9" /><Relationship Type="http://schemas.openxmlformats.org/officeDocument/2006/relationships/slide" Target="/ppt/slides/slide4.xml" Id="Rcb20cb0f122c4184" /><Relationship Type="http://schemas.openxmlformats.org/officeDocument/2006/relationships/slide" Target="/ppt/slides/slide5.xml" Id="R2281b850cb434c60" /><Relationship Type="http://schemas.openxmlformats.org/officeDocument/2006/relationships/slide" Target="/ppt/slides/slide6.xml" Id="R3af259ec402a4877" /><Relationship Type="http://schemas.openxmlformats.org/officeDocument/2006/relationships/slide" Target="/ppt/slides/slide7.xml" Id="Rf6cf67b6adf54f45" /><Relationship Type="http://schemas.openxmlformats.org/officeDocument/2006/relationships/slide" Target="/ppt/slides/slide8.xml" Id="Rcb39075118dd423f" /><Relationship Type="http://schemas.openxmlformats.org/officeDocument/2006/relationships/slide" Target="/ppt/slides/slide9.xml" Id="R8d0cf89415dc42c7" /><Relationship Type="http://schemas.openxmlformats.org/officeDocument/2006/relationships/slide" Target="/ppt/slides/slide10.xml" Id="R4f311a6d4a374a2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e92dfaa66b746d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5891dfd23104700" /><Relationship Type="http://schemas.openxmlformats.org/officeDocument/2006/relationships/notesMaster" Target="/ppt/notesMasters/notesMaster1.xml" Id="R773b5f12d84c4e9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296cdf033af44c2" /><Relationship Type="http://schemas.openxmlformats.org/officeDocument/2006/relationships/notesMaster" Target="/ppt/notesMasters/notesMaster1.xml" Id="R888cec85d047486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e67bee790c742a5" /><Relationship Type="http://schemas.openxmlformats.org/officeDocument/2006/relationships/notesMaster" Target="/ppt/notesMasters/notesMaster1.xml" Id="Rf4013a2ffc61438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3ba82c737004fda" /><Relationship Type="http://schemas.openxmlformats.org/officeDocument/2006/relationships/notesMaster" Target="/ppt/notesMasters/notesMaster1.xml" Id="R66dfafb1aa3141c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eecdace84da4a39" /><Relationship Type="http://schemas.openxmlformats.org/officeDocument/2006/relationships/notesMaster" Target="/ppt/notesMasters/notesMaster1.xml" Id="Ra8b53bfde8dd4ef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c80970c7dea4190" /><Relationship Type="http://schemas.openxmlformats.org/officeDocument/2006/relationships/notesMaster" Target="/ppt/notesMasters/notesMaster1.xml" Id="R31a8cf51304d4fd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fc3bf8d145a4407" /><Relationship Type="http://schemas.openxmlformats.org/officeDocument/2006/relationships/notesMaster" Target="/ppt/notesMasters/notesMaster1.xml" Id="R668ae0c5e638462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f307351f0d346d0" /><Relationship Type="http://schemas.openxmlformats.org/officeDocument/2006/relationships/notesMaster" Target="/ppt/notesMasters/notesMaster1.xml" Id="R57682fe3a6bd4b7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0d4e9c8e6e6466a" /><Relationship Type="http://schemas.openxmlformats.org/officeDocument/2006/relationships/notesMaster" Target="/ppt/notesMasters/notesMaster1.xml" Id="R9fb22bddd9d94ad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db695deee0b43bb" /><Relationship Type="http://schemas.openxmlformats.org/officeDocument/2006/relationships/notesMaster" Target="/ppt/notesMasters/notesMaster1.xml" Id="R0af3bd5a141f4e0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a75b5b50374bb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06d834f6bed4620" /><Relationship Type="http://schemas.openxmlformats.org/officeDocument/2006/relationships/slideLayout" Target="/ppt/slideLayouts/slideLayout1.xml" Id="Rd2f429d46e5f4b0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f429d46e5f4b0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4b4c52f50843d3" /><Relationship Type="http://schemas.openxmlformats.org/officeDocument/2006/relationships/notesSlide" Target="/ppt/notesSlides/notesSlide1.xml" Id="R3f213cf23b8e445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75dcd3e356402c" /><Relationship Type="http://schemas.openxmlformats.org/officeDocument/2006/relationships/notesSlide" Target="/ppt/notesSlides/notesSlide2.xml" Id="Rd0be49a7c17149c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2f09da5ca2416f" /><Relationship Type="http://schemas.openxmlformats.org/officeDocument/2006/relationships/notesSlide" Target="/ppt/notesSlides/notesSlide3.xml" Id="Rfccff8a0bff5474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3ce761309a4a4b" /><Relationship Type="http://schemas.openxmlformats.org/officeDocument/2006/relationships/notesSlide" Target="/ppt/notesSlides/notesSlide4.xml" Id="Rb67ecb1e3bdf43b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5cf5219976464e" /><Relationship Type="http://schemas.openxmlformats.org/officeDocument/2006/relationships/notesSlide" Target="/ppt/notesSlides/notesSlide5.xml" Id="R53106b0aedd3490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09a5daf1c64f9e" /><Relationship Type="http://schemas.openxmlformats.org/officeDocument/2006/relationships/notesSlide" Target="/ppt/notesSlides/notesSlide6.xml" Id="R084dd7f28de842d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d80f58fdbb4d6d" /><Relationship Type="http://schemas.openxmlformats.org/officeDocument/2006/relationships/notesSlide" Target="/ppt/notesSlides/notesSlide7.xml" Id="R7eb0b21b648442d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e883deff9a4066" /><Relationship Type="http://schemas.openxmlformats.org/officeDocument/2006/relationships/notesSlide" Target="/ppt/notesSlides/notesSlide8.xml" Id="Rb722658727ab420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1b4117dcd94810" /><Relationship Type="http://schemas.openxmlformats.org/officeDocument/2006/relationships/notesSlide" Target="/ppt/notesSlides/notesSlide9.xml" Id="Rab7fc952c0114dc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cb1e45bca142ef" /><Relationship Type="http://schemas.openxmlformats.org/officeDocument/2006/relationships/notesSlide" Target="/ppt/notesSlides/notesSlide10.xml" Id="R295037a1dd31442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11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60E252-D6C7-45EE-B3E0-002734F40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09AC01-EB7D-40C1-BD6F-2357CB398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48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AB7CF"/>
                </a:solidFill>
              </a:defRPr>
            </a:pPr>
            <a:r>
              <a:rPr sz="900" b="1">
                <a:solidFill>
                  <a:srgbClr val="AAB7CF"/>
                </a:solidFill>
              </a:rPr>
              <a:t>INVESTMENT RECOVERY /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5C7AC1-E970-4A13-878F-9597B868C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286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AB7CF"/>
                </a:solidFill>
              </a:defRPr>
            </a:pPr>
            <a:r>
              <a:rPr sz="825" b="0">
                <a:solidFill>
                  <a:srgbClr val="AAB7CF"/>
                </a:solidFill>
              </a:rPr>
              <a:t>Naritai / 成長カルテ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C0EA49-CEE4-4B3D-9D27-B85E1C679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AB7CF"/>
                </a:solidFill>
              </a:defRPr>
            </a:pPr>
            <a:r>
              <a:rPr sz="900" b="1">
                <a:solidFill>
                  <a:srgbClr val="AAB7CF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11176B-4E31-44FD-A5C2-61310184B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666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FFFFF"/>
                </a:solidFill>
              </a:defRPr>
            </a:pPr>
            <a:r>
              <a:rPr sz="4500" b="1">
                <a:solidFill>
                  <a:srgbClr val="FFFFFF"/>
                </a:solidFill>
              </a:rPr>
              <a:t>人材投資を</a:t>
            </a:r>
          </a:p>
          <a:p xmlns:a="http://schemas.openxmlformats.org/drawingml/2006/main">
            <a:pPr algn="l">
              <a:defRPr sz="4500" b="1">
                <a:solidFill>
                  <a:srgbClr val="FFFFFF"/>
                </a:solidFill>
              </a:defRPr>
            </a:pPr>
            <a:r>
              <a:rPr sz="4500" b="1">
                <a:solidFill>
                  <a:srgbClr val="FFFFFF"/>
                </a:solidFill>
              </a:rPr>
              <a:t>「掛け捨て」にしない。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0B5136-3937-4396-A3AE-88F8005FB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695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59E0B"/>
                </a:solidFill>
              </a:defRPr>
            </a:pPr>
            <a:r>
              <a:rPr sz="2250" b="1">
                <a:solidFill>
                  <a:srgbClr val="F59E0B"/>
                </a:solidFill>
              </a:rPr>
              <a:t>未回収コストをゼロにする組織へ。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DAA7A8-A9CE-4FD8-B82D-6D2F800FD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19550"/>
            <a:ext cx="542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7CF"/>
                </a:solidFill>
              </a:defRPr>
            </a:pPr>
            <a:r>
              <a:rPr sz="1425" b="0">
                <a:solidFill>
                  <a:srgbClr val="AAB7CF"/>
                </a:solidFill>
              </a:rPr>
              <a:t>若手の離職リスクを見える化し、独自の1on1で</a:t>
            </a:r>
          </a:p>
          <a:p xmlns:a="http://schemas.openxmlformats.org/drawingml/2006/main">
            <a:pPr algn="l">
              <a:defRPr sz="1425" b="0">
                <a:solidFill>
                  <a:srgbClr val="AAB7CF"/>
                </a:solidFill>
              </a:defRPr>
            </a:pPr>
            <a:r>
              <a:rPr sz="1425" b="0">
                <a:solidFill>
                  <a:srgbClr val="AAB7CF"/>
                </a:solidFill>
              </a:rPr>
              <a:t>成長力へ変える『成長カルテ』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6E5DBB-B7CA-4A42-BD4D-241E86EED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295400"/>
            <a:ext cx="2857500" cy="3714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11D3B"/>
          </a:solidFill>
          <a:ln xmlns:a="http://schemas.openxmlformats.org/drawingml/2006/main" w="9525">
            <a:solidFill>
              <a:srgbClr val="25345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0CE78C-52D6-4734-8957-56662673C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6192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9E0B"/>
                </a:solidFill>
              </a:defRPr>
            </a:pPr>
            <a:r>
              <a:rPr sz="900" b="1">
                <a:solidFill>
                  <a:srgbClr val="F59E0B"/>
                </a:solidFill>
              </a:rPr>
              <a:t>RECOVERY DASHBOARD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DE3E5A-87CB-4A8A-A258-0E5507029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76450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未回収</a:t>
            </a:r>
          </a:p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コスト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1AD2F1-C479-4962-9871-34CD5E10C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95650"/>
            <a:ext cx="209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45B"/>
          </a:solidFill>
          <a:ln xmlns:a="http://schemas.openxmlformats.org/drawingml/2006/main" w="0">
            <a:solidFill>
              <a:srgbClr val="25345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C8727D-E065-44C2-A3C2-861E56A59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623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AB7CF"/>
                </a:solidFill>
              </a:defRPr>
            </a:pPr>
            <a:r>
              <a:rPr sz="900" b="1">
                <a:solidFill>
                  <a:srgbClr val="AAB7CF"/>
                </a:solidFill>
              </a:rPr>
              <a:t>RISK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1A40F9-4066-47E9-B0D1-AA98FE440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48100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B981"/>
                </a:solidFill>
              </a:defRPr>
            </a:pPr>
            <a:r>
              <a:rPr sz="1875" b="1">
                <a:solidFill>
                  <a:srgbClr val="10B981"/>
                </a:solidFill>
              </a:rPr>
              <a:t>早期検知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F46846-DBA6-4EFC-BD03-D3C8AD842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9243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981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DCEC94-8F5B-492D-881D-A2ABFA879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成長カルテ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6CBC6B-C1AA-493D-BD21-2C4791C89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AB7CF"/>
                </a:solidFill>
              </a:defRPr>
            </a:pPr>
            <a:r>
              <a:rPr sz="1050" b="0">
                <a:solidFill>
                  <a:srgbClr val="AAB7CF"/>
                </a:solidFill>
              </a:rPr>
              <a:t>Business introduction</a:t>
            </a:r>
          </a:p>
        </p:txBody>
      </p:sp>
    </p:spTree>
    <p:extLst>
      <p:ext uri="{BB962C8B-B14F-4D97-AF65-F5344CB8AC3E}">
        <p14:creationId xmlns:p14="http://schemas.microsoft.com/office/powerpoint/2010/main" val="20771284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A11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04E8CC-8DA7-4D7F-86C9-DA0EE2241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B51DCF-94AE-49D5-BCB5-189B529E1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48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AB7CF"/>
                </a:solidFill>
              </a:defRPr>
            </a:pPr>
            <a:r>
              <a:rPr sz="900" b="1">
                <a:solidFill>
                  <a:srgbClr val="AAB7CF"/>
                </a:solidFill>
              </a:rPr>
              <a:t>ISSUE /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44975E-35AE-4EF3-A8CF-9270DBAEF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286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AB7CF"/>
                </a:solidFill>
              </a:defRPr>
            </a:pPr>
            <a:r>
              <a:rPr sz="825" b="0">
                <a:solidFill>
                  <a:srgbClr val="AAB7CF"/>
                </a:solidFill>
              </a:rPr>
              <a:t>Naritai / 成長カルテ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8108EF-2D8C-4420-B948-D317E364C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AB7CF"/>
                </a:solidFill>
              </a:defRPr>
            </a:pPr>
            <a:r>
              <a:rPr sz="900" b="1">
                <a:solidFill>
                  <a:srgbClr val="AAB7CF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B79891-3F2B-4C4F-99FB-8693CC342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287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「戦力化する直前」に辞められる。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7A956B-3F02-4A1F-B148-2A18C4024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7CF"/>
                </a:solidFill>
              </a:defRPr>
            </a:pPr>
            <a:r>
              <a:rPr sz="1350" b="0">
                <a:solidFill>
                  <a:srgbClr val="AAB7CF"/>
                </a:solidFill>
              </a:rPr>
              <a:t>一番高い教育費の掛け捨てが、静かに利益を削る。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00FCE7-298B-4879-A06A-BB220BDE2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90875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AB7CF"/>
          </a:solidFill>
          <a:ln xmlns:a="http://schemas.openxmlformats.org/drawingml/2006/main" w="9525">
            <a:solidFill>
              <a:srgbClr val="AAB7C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EC1E24-FAC7-41F0-80DC-E67738F38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48025"/>
            <a:ext cx="257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45B"/>
          </a:solidFill>
          <a:ln xmlns:a="http://schemas.openxmlformats.org/drawingml/2006/main" w="0">
            <a:solidFill>
              <a:srgbClr val="25345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C920E3-1D9D-4010-887B-7B49E0A17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採用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5C80CE-D52D-4F25-9F1A-7FD361D30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7CF"/>
                </a:solidFill>
              </a:defRPr>
            </a:pPr>
            <a:r>
              <a:rPr sz="1125" b="0">
                <a:solidFill>
                  <a:srgbClr val="AAB7CF"/>
                </a:solidFill>
              </a:rPr>
              <a:t>コスト発生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F2424E-2328-44B5-9C69-5A443A7C6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190875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AB7CF"/>
          </a:solidFill>
          <a:ln xmlns:a="http://schemas.openxmlformats.org/drawingml/2006/main" w="9525">
            <a:solidFill>
              <a:srgbClr val="AAB7C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56BA2A-93A8-42AA-ABB3-003152331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48025"/>
            <a:ext cx="257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45B"/>
          </a:solidFill>
          <a:ln xmlns:a="http://schemas.openxmlformats.org/drawingml/2006/main" w="0">
            <a:solidFill>
              <a:srgbClr val="25345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E51A6C-BB2F-404D-B1B1-B64440929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5718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教育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B78D67-F480-4D95-A07A-49A736761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000500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7CF"/>
                </a:solidFill>
              </a:defRPr>
            </a:pPr>
            <a:r>
              <a:rPr sz="1125" b="0">
                <a:solidFill>
                  <a:srgbClr val="AAB7CF"/>
                </a:solidFill>
              </a:rPr>
              <a:t>時間投資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2931E7-AF11-40A2-8D89-173FCFD29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190875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AB7CF"/>
          </a:solidFill>
          <a:ln xmlns:a="http://schemas.openxmlformats.org/drawingml/2006/main" w="9525">
            <a:solidFill>
              <a:srgbClr val="AAB7C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641622-06EB-454C-A152-9FD97C5BC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248025"/>
            <a:ext cx="257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45B"/>
          </a:solidFill>
          <a:ln xmlns:a="http://schemas.openxmlformats.org/drawingml/2006/main" w="0">
            <a:solidFill>
              <a:srgbClr val="25345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2A68F1-3268-48AE-8312-639465C39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5718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戦力化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A5E1BE-AE42-441C-BC9F-E038E1C14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000500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7CF"/>
                </a:solidFill>
              </a:defRPr>
            </a:pPr>
            <a:r>
              <a:rPr sz="1125" b="0">
                <a:solidFill>
                  <a:srgbClr val="AAB7CF"/>
                </a:solidFill>
              </a:rPr>
              <a:t>成果が出る直前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840794-5050-4B03-ACC5-3E7BFF12E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190875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DBFB88-FE06-4B58-B136-5B6F8FC21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248025"/>
            <a:ext cx="104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4CE54A-951C-4E4E-A5F5-07CCD4C89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5718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9E0B"/>
                </a:solidFill>
              </a:defRPr>
            </a:pPr>
            <a:r>
              <a:rPr sz="1875" b="1">
                <a:solidFill>
                  <a:srgbClr val="F59E0B"/>
                </a:solidFill>
              </a:rPr>
              <a:t>離職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708244-7C3F-461D-8134-E089A4C90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00500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7CF"/>
                </a:solidFill>
              </a:defRPr>
            </a:pPr>
            <a:r>
              <a:rPr sz="1125" b="0">
                <a:solidFill>
                  <a:srgbClr val="AAB7CF"/>
                </a:solidFill>
              </a:rPr>
              <a:t>投資がリセット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DACB57-4A75-47FD-8E7F-0AEE08D0C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3251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11D3B"/>
          </a:solidFill>
          <a:ln xmlns:a="http://schemas.openxmlformats.org/drawingml/2006/main" w="9525">
            <a:solidFill>
              <a:srgbClr val="25345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019C62-D196-4A7D-9069-C038A2709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8160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採用費・教育費をかけても、成果が出る前にリセットされる。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6760DC-6CF9-4E25-98B7-3A77B7D0A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9E0B"/>
                </a:solidFill>
              </a:defRPr>
            </a:pPr>
            <a:r>
              <a:rPr sz="1125" b="1">
                <a:solidFill>
                  <a:srgbClr val="F59E0B"/>
                </a:solidFill>
              </a:rPr>
              <a:t>止めるべきは「感情的な離職」ではなく、財務的損失。</a:t>
            </a:r>
          </a:p>
        </p:txBody>
      </p:sp>
    </p:spTree>
    <p:extLst>
      <p:ext uri="{BB962C8B-B14F-4D97-AF65-F5344CB8AC3E}">
        <p14:creationId xmlns:p14="http://schemas.microsoft.com/office/powerpoint/2010/main" val="1620736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A11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BF2572-074C-4E01-9C66-1CF49EB08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7B8177-8B23-4E72-B82B-3BF29096D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48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AB7CF"/>
                </a:solidFill>
              </a:defRPr>
            </a:pPr>
            <a:r>
              <a:rPr sz="900" b="1">
                <a:solidFill>
                  <a:srgbClr val="AAB7CF"/>
                </a:solidFill>
              </a:rPr>
              <a:t>FINANCIAL KPI /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E4F6D8-4B30-476E-BE21-F3BB2F6A5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286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AB7CF"/>
                </a:solidFill>
              </a:defRPr>
            </a:pPr>
            <a:r>
              <a:rPr sz="825" b="0">
                <a:solidFill>
                  <a:srgbClr val="AAB7CF"/>
                </a:solidFill>
              </a:rPr>
              <a:t>Naritai / 成長カルテ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8116EA-F9C7-4628-A64A-0F210A5B3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AB7CF"/>
                </a:solidFill>
              </a:defRPr>
            </a:pPr>
            <a:r>
              <a:rPr sz="900" b="1">
                <a:solidFill>
                  <a:srgbClr val="AAB7CF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30F7AC-5B9D-4581-BD29-C63E09751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287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辞めた社員に、いくら投資して、いくら未回収ですか？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0A6333-D6FE-4791-8FE4-50E08E13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7CF"/>
                </a:solidFill>
              </a:defRPr>
            </a:pPr>
            <a:r>
              <a:rPr sz="1350" b="0">
                <a:solidFill>
                  <a:srgbClr val="AAB7CF"/>
                </a:solidFill>
              </a:rPr>
              <a:t>人材投資を「費用」ではなく、回収すべき資産として捉え直す。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72A151-B616-496B-91AD-9DC61661C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3143250" cy="163830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11D3B"/>
          </a:solidFill>
          <a:ln xmlns:a="http://schemas.openxmlformats.org/drawingml/2006/main" w="9525">
            <a:solidFill>
              <a:srgbClr val="25345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68EEB4-B0FA-403B-BFE4-D007E8D2D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76575"/>
            <a:ext cx="2686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59E0B"/>
                </a:solidFill>
              </a:defRPr>
            </a:pPr>
            <a:r>
              <a:rPr sz="3450" b="1">
                <a:solidFill>
                  <a:srgbClr val="F59E0B"/>
                </a:solidFill>
              </a:rPr>
              <a:t>¥ 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494475-9879-4A8F-BC08-56E7259CC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76675"/>
            <a:ext cx="2686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7FB"/>
                </a:solidFill>
              </a:defRPr>
            </a:pPr>
            <a:r>
              <a:rPr sz="1200" b="1">
                <a:solidFill>
                  <a:srgbClr val="F4F7FB"/>
                </a:solidFill>
              </a:rPr>
              <a:t>① 離職コスト（回収不能額）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68E8FA-C357-4C68-822C-066752108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809875"/>
            <a:ext cx="3143250" cy="163830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11D3B"/>
          </a:solidFill>
          <a:ln xmlns:a="http://schemas.openxmlformats.org/drawingml/2006/main" w="9525">
            <a:solidFill>
              <a:srgbClr val="25345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D41D46-676E-44FD-AAB0-829D678AC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076575"/>
            <a:ext cx="2686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— ヶ月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8054FD-DC1C-4910-8180-C042B262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876675"/>
            <a:ext cx="2686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7FB"/>
                </a:solidFill>
              </a:defRPr>
            </a:pPr>
            <a:r>
              <a:rPr sz="1200" b="1">
                <a:solidFill>
                  <a:srgbClr val="F4F7FB"/>
                </a:solidFill>
              </a:rPr>
              <a:t>② 損益分岐点（回収まで）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B13BDA-A6C2-431B-8EAB-2B844BCC1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09875"/>
            <a:ext cx="3600450" cy="163830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11D3B"/>
          </a:solidFill>
          <a:ln xmlns:a="http://schemas.openxmlformats.org/drawingml/2006/main" w="9525">
            <a:solidFill>
              <a:srgbClr val="25345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FD3DDA-7A98-489D-AB22-AA18ACF7B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076575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59E0B"/>
                </a:solidFill>
              </a:defRPr>
            </a:pPr>
            <a:r>
              <a:rPr sz="3450" b="1">
                <a:solidFill>
                  <a:srgbClr val="F59E0B"/>
                </a:solidFill>
              </a:rPr>
              <a:t>¥ 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363376-2259-4E55-B8FC-DC931FD85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87667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7FB"/>
                </a:solidFill>
              </a:defRPr>
            </a:pPr>
            <a:r>
              <a:rPr sz="1200" b="1">
                <a:solidFill>
                  <a:srgbClr val="F4F7FB"/>
                </a:solidFill>
              </a:rPr>
              <a:t>③ 全社想定損失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39CB4A-1380-449D-AEB9-A04C369DC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7CF"/>
                </a:solidFill>
              </a:defRPr>
            </a:pPr>
            <a:r>
              <a:rPr sz="1350" b="0">
                <a:solidFill>
                  <a:srgbClr val="AAB7CF"/>
                </a:solidFill>
              </a:rPr>
              <a:t>まずは無料診断で、貴社固有の未回収コストを可視化します。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E41484-B13A-4A0A-94C9-445161780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B981"/>
                </a:solidFill>
              </a:defRPr>
            </a:pPr>
            <a:r>
              <a:rPr sz="975" b="1">
                <a:solidFill>
                  <a:srgbClr val="10B981"/>
                </a:solidFill>
              </a:rPr>
              <a:t>INPUT → 採用・教育・配置・離職データ</a:t>
            </a:r>
          </a:p>
        </p:txBody>
      </p:sp>
    </p:spTree>
    <p:extLst>
      <p:ext uri="{BB962C8B-B14F-4D97-AF65-F5344CB8AC3E}">
        <p14:creationId xmlns:p14="http://schemas.microsoft.com/office/powerpoint/2010/main" val="10360779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A11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431177-12A2-4FFF-A73B-2A24A355B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B50A7A-4330-4312-827A-CB15DC97A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48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AB7CF"/>
                </a:solidFill>
              </a:defRPr>
            </a:pPr>
            <a:r>
              <a:rPr sz="900" b="1">
                <a:solidFill>
                  <a:srgbClr val="AAB7CF"/>
                </a:solidFill>
              </a:rPr>
              <a:t>ROOT CAUSE / 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DFC8EA-01E9-4D34-AED6-0862D878F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286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AB7CF"/>
                </a:solidFill>
              </a:defRPr>
            </a:pPr>
            <a:r>
              <a:rPr sz="825" b="0">
                <a:solidFill>
                  <a:srgbClr val="AAB7CF"/>
                </a:solidFill>
              </a:rPr>
              <a:t>Naritai / 成長カルテ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904E57-8D94-47D3-B6E4-1850466BF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AB7CF"/>
                </a:solidFill>
              </a:defRPr>
            </a:pPr>
            <a:r>
              <a:rPr sz="900" b="1">
                <a:solidFill>
                  <a:srgbClr val="AAB7CF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0B6723-0B04-4927-9806-CF27AA7D2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287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社内の1on1やサーベイだけでは、防げない。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1E8EDE-F765-46C7-A1CC-A32C5F897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7CF"/>
                </a:solidFill>
              </a:defRPr>
            </a:pPr>
            <a:r>
              <a:rPr sz="1350" b="0">
                <a:solidFill>
                  <a:srgbClr val="AAB7CF"/>
                </a:solidFill>
              </a:rPr>
              <a:t>水面下にある「本音」と「キャリアの迷い」が、離職の予兆になる。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0C902B-24CA-4048-94BD-2D8DEFC43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10325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7CF"/>
          </a:solidFill>
          <a:ln xmlns:a="http://schemas.openxmlformats.org/drawingml/2006/main" w="0">
            <a:solidFill>
              <a:srgbClr val="AAB7C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3F89BE-296C-4526-BEA2-0CA247ECB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AB7CF"/>
                </a:solidFill>
              </a:defRPr>
            </a:pPr>
            <a:r>
              <a:rPr sz="900" b="1">
                <a:solidFill>
                  <a:srgbClr val="AAB7CF"/>
                </a:solidFill>
              </a:rPr>
              <a:t>水面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A87452-3DB3-4345-AC85-0D9C34E3E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324100"/>
            <a:ext cx="3619500" cy="14287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264A"/>
          </a:solidFill>
          <a:ln xmlns:a="http://schemas.openxmlformats.org/drawingml/2006/main" w="9525">
            <a:solidFill>
              <a:srgbClr val="25345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241342-F72C-43D4-B427-59CCBB725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8575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10%  業務報告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31395A-0E8B-4D15-B1E0-4FC664BC7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24802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AB7CF"/>
                </a:solidFill>
              </a:defRPr>
            </a:pPr>
            <a:r>
              <a:rPr sz="1050" b="0">
                <a:solidFill>
                  <a:srgbClr val="AAB7CF"/>
                </a:solidFill>
              </a:rPr>
              <a:t>社内上司の1on1が見える領域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186720-2AA3-4202-897A-AB3332DFF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829050"/>
            <a:ext cx="3619500" cy="18573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42A51"/>
          </a:solidFill>
          <a:ln xmlns:a="http://schemas.openxmlformats.org/drawingml/2006/main" w="9525">
            <a:solidFill>
              <a:srgbClr val="25345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E4F2F9-DC64-4EE8-ACBD-EE8247180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333875"/>
            <a:ext cx="1000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9E0B"/>
                </a:solidFill>
              </a:defRPr>
            </a:pPr>
            <a:r>
              <a:rPr sz="2700" b="1">
                <a:solidFill>
                  <a:srgbClr val="F59E0B"/>
                </a:solidFill>
              </a:rPr>
              <a:t>90%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FED444-052E-409C-83EA-A4B925E18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8101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本音・キャリア・葛藤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2D88A0-6990-4943-AB4F-78896AADA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00350"/>
            <a:ext cx="4457700" cy="2495550"/>
          </a:xfrm>
          <a:prstGeom xmlns:a="http://schemas.openxmlformats.org/drawingml/2006/main" prst="roundRect">
            <a:avLst>
              <a:gd name="adj" fmla="val 6107"/>
            </a:avLst>
          </a:prstGeom>
          <a:solidFill xmlns:a="http://schemas.openxmlformats.org/drawingml/2006/main">
            <a:srgbClr val="111D3B"/>
          </a:solidFill>
          <a:ln xmlns:a="http://schemas.openxmlformats.org/drawingml/2006/main" w="9525">
            <a:solidFill>
              <a:srgbClr val="25345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3C67C3-31C4-4700-917C-3BC78D8CC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1051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B981"/>
                </a:solidFill>
              </a:defRPr>
            </a:pPr>
            <a:r>
              <a:rPr sz="900" b="1">
                <a:solidFill>
                  <a:srgbClr val="10B981"/>
                </a:solidFill>
              </a:rPr>
              <a:t>NARITAI'S ROLE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55A5F9-9E01-4E87-B830-3C26BE63D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486150"/>
            <a:ext cx="342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第三者だから届く</a:t>
            </a:r>
          </a:p>
          <a:p xmlns:a="http://schemas.openxmlformats.org/drawingml/2006/main">
            <a:pPr algn="l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「働く理由」へ再接続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693487-86F2-4E7A-AB44-A771B68CE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52437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AB7CF"/>
                </a:solidFill>
              </a:defRPr>
            </a:pPr>
            <a:r>
              <a:rPr sz="1200" b="0">
                <a:solidFill>
                  <a:srgbClr val="AAB7CF"/>
                </a:solidFill>
              </a:rPr>
              <a:t>プロが引き出し、組織が動ける言葉に翻訳する。</a:t>
            </a:r>
          </a:p>
        </p:txBody>
      </p:sp>
    </p:spTree>
    <p:extLst>
      <p:ext uri="{BB962C8B-B14F-4D97-AF65-F5344CB8AC3E}">
        <p14:creationId xmlns:p14="http://schemas.microsoft.com/office/powerpoint/2010/main" val="19242855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A11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1FCF10-788F-4BCA-BA08-ABA32F38B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875200-C1BF-4969-AB54-6F65C92D0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48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AB7CF"/>
                </a:solidFill>
              </a:defRPr>
            </a:pPr>
            <a:r>
              <a:rPr sz="900" b="1">
                <a:solidFill>
                  <a:srgbClr val="AAB7CF"/>
                </a:solidFill>
              </a:rPr>
              <a:t>SOLUTION / 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52821B-7E6F-46C4-9750-0D4807574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286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AB7CF"/>
                </a:solidFill>
              </a:defRPr>
            </a:pPr>
            <a:r>
              <a:rPr sz="825" b="0">
                <a:solidFill>
                  <a:srgbClr val="AAB7CF"/>
                </a:solidFill>
              </a:rPr>
              <a:t>Naritai / 成長カルテ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6FBC19-B6A2-4BF4-ABDA-9850C6EE9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AB7CF"/>
                </a:solidFill>
              </a:defRPr>
            </a:pPr>
            <a:r>
              <a:rPr sz="900" b="1">
                <a:solidFill>
                  <a:srgbClr val="AAB7CF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262A07-2513-4AAC-8528-1DDB56397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287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データで先手を打つ、人材投資ダッシュボード。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CC7841-89F8-4CBF-9242-F5100B245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7CF"/>
                </a:solidFill>
              </a:defRPr>
            </a:pPr>
            <a:r>
              <a:rPr sz="1350" b="0">
                <a:solidFill>
                  <a:srgbClr val="AAB7CF"/>
                </a:solidFill>
              </a:rPr>
              <a:t>「誰が危ないか」ではなく、「どの投資が未回収か」を見える化。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9556D2-5000-4EBE-A666-061A17820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491490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111D3B"/>
          </a:solidFill>
          <a:ln xmlns:a="http://schemas.openxmlformats.org/drawingml/2006/main" w="9525">
            <a:solidFill>
              <a:srgbClr val="25345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1EF5B0-3C22-40A6-98A8-FB97C409E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908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B981"/>
                </a:solidFill>
              </a:defRPr>
            </a:pPr>
            <a:r>
              <a:rPr sz="1350" b="1">
                <a:solidFill>
                  <a:srgbClr val="10B981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1B12B7-26FA-44EF-9074-43359C34C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718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未回収額の可視化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20BA28-8222-4B39-9309-A24C63A8A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35280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7CF"/>
                </a:solidFill>
              </a:defRPr>
            </a:pPr>
            <a:r>
              <a:rPr sz="1125" b="0">
                <a:solidFill>
                  <a:srgbClr val="AAB7CF"/>
                </a:solidFill>
              </a:rPr>
              <a:t>投資残高を一人ひとり追う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01990C-3C8D-4895-B702-44A772272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762250"/>
            <a:ext cx="491490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111D3B"/>
          </a:solidFill>
          <a:ln xmlns:a="http://schemas.openxmlformats.org/drawingml/2006/main" w="9525">
            <a:solidFill>
              <a:srgbClr val="25345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EEFDE6-A906-47E1-AEF3-7ECD8112C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9908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B981"/>
                </a:solidFill>
              </a:defRPr>
            </a:pPr>
            <a:r>
              <a:rPr sz="1350" b="1">
                <a:solidFill>
                  <a:srgbClr val="10B981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E6AADA-0ACE-423F-95A5-284E37D95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9718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損益分岐点カーブ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F7802F-2F5E-4BEF-B27C-E8E65C2C8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5280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7CF"/>
                </a:solidFill>
              </a:defRPr>
            </a:pPr>
            <a:r>
              <a:rPr sz="1125" b="0">
                <a:solidFill>
                  <a:srgbClr val="AAB7CF"/>
                </a:solidFill>
              </a:rPr>
              <a:t>回収までの距離を示す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8B9B62-6F98-4A97-A159-CF524F204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491490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111D3B"/>
          </a:solidFill>
          <a:ln xmlns:a="http://schemas.openxmlformats.org/drawingml/2006/main" w="9525">
            <a:solidFill>
              <a:srgbClr val="25345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3A2BE6-9622-4FB0-8848-3AA239083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196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9E0B"/>
                </a:solidFill>
              </a:defRPr>
            </a:pPr>
            <a:r>
              <a:rPr sz="1350" b="1">
                <a:solidFill>
                  <a:srgbClr val="F59E0B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A1C923-19FF-49A6-B40B-EBBB2BB1C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4005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定着リスク早期アラート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F7DCBC-DD3A-4BC0-9F68-96738C936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78155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7CF"/>
                </a:solidFill>
              </a:defRPr>
            </a:pPr>
            <a:r>
              <a:rPr sz="1125" b="0">
                <a:solidFill>
                  <a:srgbClr val="AAB7CF"/>
                </a:solidFill>
              </a:rPr>
              <a:t>兆候を行動前に拾う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A6634B-D538-44EC-8831-B3D197FEE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191000"/>
            <a:ext cx="491490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111D3B"/>
          </a:solidFill>
          <a:ln xmlns:a="http://schemas.openxmlformats.org/drawingml/2006/main" w="9525">
            <a:solidFill>
              <a:srgbClr val="25345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723441-B088-4DBE-8E0B-54166FF2D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4196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B981"/>
                </a:solidFill>
              </a:defRPr>
            </a:pPr>
            <a:r>
              <a:rPr sz="1350" b="1">
                <a:solidFill>
                  <a:srgbClr val="10B981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D64908-0281-4D2B-A442-1340BBA58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4005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施策効果の検証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B3601E-C770-433C-BE0F-0020E1012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78155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7CF"/>
                </a:solidFill>
              </a:defRPr>
            </a:pPr>
            <a:r>
              <a:rPr sz="1125" b="0">
                <a:solidFill>
                  <a:srgbClr val="AAB7CF"/>
                </a:solidFill>
              </a:rPr>
              <a:t>打ち手を学習資産にする</a:t>
            </a:r>
          </a:p>
        </p:txBody>
      </p:sp>
    </p:spTree>
    <p:extLst>
      <p:ext uri="{BB962C8B-B14F-4D97-AF65-F5344CB8AC3E}">
        <p14:creationId xmlns:p14="http://schemas.microsoft.com/office/powerpoint/2010/main" val="16166167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A11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AD1EBD-0F34-401C-BF9F-F2B0B7035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6AF166-72FF-43AE-B05C-82A7AB5A8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48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AB7CF"/>
                </a:solidFill>
              </a:defRPr>
            </a:pPr>
            <a:r>
              <a:rPr sz="900" b="1">
                <a:solidFill>
                  <a:srgbClr val="AAB7CF"/>
                </a:solidFill>
              </a:rPr>
              <a:t>SOLUTION / 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B54F8E-5096-4FBD-A919-04D296EF2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286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AB7CF"/>
                </a:solidFill>
              </a:defRPr>
            </a:pPr>
            <a:r>
              <a:rPr sz="825" b="0">
                <a:solidFill>
                  <a:srgbClr val="AAB7CF"/>
                </a:solidFill>
              </a:rPr>
              <a:t>Naritai / 成長カルテ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BCDCEB-B55E-4BF6-A525-8D190DC5B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AB7CF"/>
                </a:solidFill>
              </a:defRPr>
            </a:pPr>
            <a:r>
              <a:rPr sz="900" b="1">
                <a:solidFill>
                  <a:srgbClr val="AAB7CF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64E480-0FE0-4179-A00A-5F3A719C8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287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見る → 向き合う → 動かす。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0BE23E-9FE7-4497-A129-49CB7E7E3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7CF"/>
                </a:solidFill>
              </a:defRPr>
            </a:pPr>
            <a:r>
              <a:rPr sz="1350" b="0">
                <a:solidFill>
                  <a:srgbClr val="AAB7CF"/>
                </a:solidFill>
              </a:rPr>
              <a:t>「測って終わり」にしない、現場で自走するまでの伴走。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71347E-B020-4670-B211-71B61323D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3009900" cy="2143125"/>
          </a:xfrm>
          <a:prstGeom xmlns:a="http://schemas.openxmlformats.org/drawingml/2006/main" prst="roundRect">
            <a:avLst>
              <a:gd name="adj" fmla="val 7111"/>
            </a:avLst>
          </a:prstGeom>
          <a:solidFill xmlns:a="http://schemas.openxmlformats.org/drawingml/2006/main">
            <a:srgbClr val="111D3B"/>
          </a:solidFill>
          <a:ln xmlns:a="http://schemas.openxmlformats.org/drawingml/2006/main" w="9525">
            <a:solidFill>
              <a:srgbClr val="25345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B9340D-90D0-4704-8B14-B801523CF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9E0B"/>
                </a:solidFill>
              </a:defRPr>
            </a:pPr>
            <a:r>
              <a:rPr sz="1350" b="1">
                <a:solidFill>
                  <a:srgbClr val="F59E0B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07BC0C-6BB7-4814-8FEE-72DA2CCF7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第三者1on1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1F8DE8-4090-4607-BEBD-8AFE68F8F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57650"/>
            <a:ext cx="2362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7CF"/>
                </a:solidFill>
              </a:defRPr>
            </a:pPr>
            <a:r>
              <a:rPr sz="1275" b="0">
                <a:solidFill>
                  <a:srgbClr val="AAB7CF"/>
                </a:solidFill>
              </a:rPr>
              <a:t>本音を可視化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8AEF07-A639-4C52-8E22-6C659D6F1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0522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B981"/>
                </a:solidFill>
              </a:defRPr>
            </a:pPr>
            <a:r>
              <a:rPr sz="1800" b="1">
                <a:solidFill>
                  <a:srgbClr val="10B981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22ACE1-C5E5-4CA9-B711-B045627F9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857500"/>
            <a:ext cx="3009900" cy="2143125"/>
          </a:xfrm>
          <a:prstGeom xmlns:a="http://schemas.openxmlformats.org/drawingml/2006/main" prst="roundRect">
            <a:avLst>
              <a:gd name="adj" fmla="val 7111"/>
            </a:avLst>
          </a:prstGeom>
          <a:solidFill xmlns:a="http://schemas.openxmlformats.org/drawingml/2006/main">
            <a:srgbClr val="111D3B"/>
          </a:solidFill>
          <a:ln xmlns:a="http://schemas.openxmlformats.org/drawingml/2006/main" w="9525">
            <a:solidFill>
              <a:srgbClr val="25345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006FAD-798F-4F01-A07F-AA43F8353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1051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9E0B"/>
                </a:solidFill>
              </a:defRPr>
            </a:pPr>
            <a:r>
              <a:rPr sz="1350" b="1">
                <a:solidFill>
                  <a:srgbClr val="F59E0B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7FD9AF-FD10-4869-B3D8-6B0C04477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5433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未来接続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2FAD03-011F-4179-9168-EF745F4FF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057650"/>
            <a:ext cx="2362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7CF"/>
                </a:solidFill>
              </a:defRPr>
            </a:pPr>
            <a:r>
              <a:rPr sz="1275" b="0">
                <a:solidFill>
                  <a:srgbClr val="AAB7CF"/>
                </a:solidFill>
              </a:rPr>
              <a:t>3〜5年ビジョンと</a:t>
            </a:r>
          </a:p>
          <a:p xmlns:a="http://schemas.openxmlformats.org/drawingml/2006/main">
            <a:pPr algn="l">
              <a:defRPr sz="1275" b="0">
                <a:solidFill>
                  <a:srgbClr val="AAB7CF"/>
                </a:solidFill>
              </a:defRPr>
            </a:pPr>
            <a:r>
              <a:rPr sz="1275" b="0">
                <a:solidFill>
                  <a:srgbClr val="AAB7CF"/>
                </a:solidFill>
              </a:rPr>
              <a:t>今の業務をつなぐ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6A627B-3333-418F-81B9-8965D7DB2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70522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B981"/>
                </a:solidFill>
              </a:defRPr>
            </a:pPr>
            <a:r>
              <a:rPr sz="1800" b="1">
                <a:solidFill>
                  <a:srgbClr val="10B981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CB4667-48FE-4212-99AD-EF747722B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57500"/>
            <a:ext cx="3009900" cy="2143125"/>
          </a:xfrm>
          <a:prstGeom xmlns:a="http://schemas.openxmlformats.org/drawingml/2006/main" prst="roundRect">
            <a:avLst>
              <a:gd name="adj" fmla="val 7111"/>
            </a:avLst>
          </a:prstGeom>
          <a:solidFill xmlns:a="http://schemas.openxmlformats.org/drawingml/2006/main">
            <a:srgbClr val="111D3B"/>
          </a:solidFill>
          <a:ln xmlns:a="http://schemas.openxmlformats.org/drawingml/2006/main" w="9525">
            <a:solidFill>
              <a:srgbClr val="25345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C3C0F8-0AB8-4FF8-A0DE-0134EEA65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1051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9E0B"/>
                </a:solidFill>
              </a:defRPr>
            </a:pPr>
            <a:r>
              <a:rPr sz="1350" b="1">
                <a:solidFill>
                  <a:srgbClr val="F59E0B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C2F78E-16D4-427D-952D-E90C4BB8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5433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自走伴走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8F9DB2-6225-424B-ADC5-5A06975DE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057650"/>
            <a:ext cx="2362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7CF"/>
                </a:solidFill>
              </a:defRPr>
            </a:pPr>
            <a:r>
              <a:rPr sz="1275" b="0">
                <a:solidFill>
                  <a:srgbClr val="AAB7CF"/>
                </a:solidFill>
              </a:rPr>
              <a:t>現場で行動が続く</a:t>
            </a:r>
          </a:p>
          <a:p xmlns:a="http://schemas.openxmlformats.org/drawingml/2006/main">
            <a:pPr algn="l">
              <a:defRPr sz="1275" b="0">
                <a:solidFill>
                  <a:srgbClr val="AAB7CF"/>
                </a:solidFill>
              </a:defRPr>
            </a:pPr>
            <a:r>
              <a:rPr sz="1275" b="0">
                <a:solidFill>
                  <a:srgbClr val="AAB7CF"/>
                </a:solidFill>
              </a:rPr>
              <a:t>状態まで支える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FE5568-1EB6-4722-B032-4254ADAC8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B981"/>
                </a:solidFill>
              </a:defRPr>
            </a:pPr>
            <a:r>
              <a:rPr sz="1500" b="1">
                <a:solidFill>
                  <a:srgbClr val="10B981"/>
                </a:solidFill>
              </a:rPr>
              <a:t>“本人の納得” が、組織に残る理由と主体的な行動をつくる。</a:t>
            </a:r>
          </a:p>
        </p:txBody>
      </p:sp>
    </p:spTree>
    <p:extLst>
      <p:ext uri="{BB962C8B-B14F-4D97-AF65-F5344CB8AC3E}">
        <p14:creationId xmlns:p14="http://schemas.microsoft.com/office/powerpoint/2010/main" val="9361982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A11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761C99-F521-4D74-9543-BAF523C74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740EA6-09F8-4421-8E8A-2E787D8BC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48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AB7CF"/>
                </a:solidFill>
              </a:defRPr>
            </a:pPr>
            <a:r>
              <a:rPr sz="900" b="1">
                <a:solidFill>
                  <a:srgbClr val="AAB7CF"/>
                </a:solidFill>
              </a:rPr>
              <a:t>ADVISORY /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B78A24-65CB-4848-B6B9-E6CB4E92D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286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AB7CF"/>
                </a:solidFill>
              </a:defRPr>
            </a:pPr>
            <a:r>
              <a:rPr sz="825" b="0">
                <a:solidFill>
                  <a:srgbClr val="AAB7CF"/>
                </a:solidFill>
              </a:rPr>
              <a:t>Naritai / 成長カルテ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DC072B-DC79-4771-A42A-D6FD5EABA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AB7CF"/>
                </a:solidFill>
              </a:defRPr>
            </a:pPr>
            <a:r>
              <a:rPr sz="900" b="1">
                <a:solidFill>
                  <a:srgbClr val="AAB7CF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85C4DC-E128-4374-9AD0-F5AB2DA55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287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社長のための「若手 × 時代」の相談役。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C9515A-D82D-4ED2-940D-820FBC90F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7CF"/>
                </a:solidFill>
              </a:defRPr>
            </a:pPr>
            <a:r>
              <a:rPr sz="1350" b="0">
                <a:solidFill>
                  <a:srgbClr val="AAB7CF"/>
                </a:solidFill>
              </a:rPr>
              <a:t>経営コンサルではなく、Z世代当事者のリアルを経営判断の材料に。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DAF832-8CFE-4634-BEC4-B8BB1675E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4114800" cy="2457450"/>
          </a:xfrm>
          <a:prstGeom xmlns:a="http://schemas.openxmlformats.org/drawingml/2006/main" prst="roundRect">
            <a:avLst>
              <a:gd name="adj" fmla="val 6202"/>
            </a:avLst>
          </a:prstGeom>
          <a:solidFill xmlns:a="http://schemas.openxmlformats.org/drawingml/2006/main">
            <a:srgbClr val="111D3B"/>
          </a:solidFill>
          <a:ln xmlns:a="http://schemas.openxmlformats.org/drawingml/2006/main" w="9525">
            <a:solidFill>
              <a:srgbClr val="25345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35A3C7-A509-4F48-905A-084776ABC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9E0B"/>
                </a:solidFill>
              </a:defRPr>
            </a:pPr>
            <a:r>
              <a:rPr sz="900" b="1">
                <a:solidFill>
                  <a:srgbClr val="F59E0B"/>
                </a:solidFill>
              </a:rPr>
              <a:t>Z GENERATION ADVISORY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854B35-7C00-4BAC-A4D2-04DEFE811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76625"/>
            <a:ext cx="314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若手の違和感を</a:t>
            </a:r>
          </a:p>
          <a:p xmlns:a="http://schemas.openxmlformats.org/drawingml/2006/main">
            <a:pPr algn="l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“経営が動ける言葉”に。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0ECB2E-8AD6-4807-A7A6-EAE9FBAC7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4820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B981"/>
                </a:solidFill>
              </a:defRPr>
            </a:pPr>
            <a:r>
              <a:rPr sz="1275" b="1">
                <a:solidFill>
                  <a:srgbClr val="10B981"/>
                </a:solidFill>
              </a:rPr>
              <a:t>相談無料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C18AF3-C0CF-4560-8128-12DED68A3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9718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F95EE7-A739-410D-9A84-4661D0E34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95600"/>
            <a:ext cx="338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採用・定着の打ち手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FF51AA-3FE0-4828-9045-C981C899C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194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AB7CF"/>
                </a:solidFill>
              </a:defRPr>
            </a:pPr>
            <a:r>
              <a:rPr sz="1050" b="0">
                <a:solidFill>
                  <a:srgbClr val="AAB7CF"/>
                </a:solidFill>
              </a:rPr>
              <a:t>若手当事者の視点で整理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336CF8-666F-4B3F-9D3C-C00DBFFB5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6766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201AF4-39E4-4F08-9FCF-03DE9EEE3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00450"/>
            <a:ext cx="338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育成とマネジメント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3C7AED-451C-474C-9C69-D5A27825A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243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AB7CF"/>
                </a:solidFill>
              </a:defRPr>
            </a:pPr>
            <a:r>
              <a:rPr sz="1050" b="0">
                <a:solidFill>
                  <a:srgbClr val="AAB7CF"/>
                </a:solidFill>
              </a:rPr>
              <a:t>若手当事者の視点で整理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285472-2514-455B-B066-5C84362BA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3815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570259-4022-4606-B9C1-D80D45448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305300"/>
            <a:ext cx="338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組織の見えない摩擦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4010F7-9148-4EEB-8B2C-D52D5CA98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6291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AB7CF"/>
                </a:solidFill>
              </a:defRPr>
            </a:pPr>
            <a:r>
              <a:rPr sz="1050" b="0">
                <a:solidFill>
                  <a:srgbClr val="AAB7CF"/>
                </a:solidFill>
              </a:rPr>
              <a:t>若手当事者の視点で整理</a:t>
            </a:r>
          </a:p>
        </p:txBody>
      </p:sp>
    </p:spTree>
    <p:extLst>
      <p:ext uri="{BB962C8B-B14F-4D97-AF65-F5344CB8AC3E}">
        <p14:creationId xmlns:p14="http://schemas.microsoft.com/office/powerpoint/2010/main" val="171268899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A11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19693E-D5AB-4A7E-80CA-FD73373C7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583933-1FD1-46F2-A649-F290018DE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48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AB7CF"/>
                </a:solidFill>
              </a:defRPr>
            </a:pPr>
            <a:r>
              <a:rPr sz="900" b="1">
                <a:solidFill>
                  <a:srgbClr val="AAB7CF"/>
                </a:solidFill>
              </a:rPr>
              <a:t>CASE STUDY /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1353B0-3541-428B-8A87-8878B7DD0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286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AB7CF"/>
                </a:solidFill>
              </a:defRPr>
            </a:pPr>
            <a:r>
              <a:rPr sz="825" b="0">
                <a:solidFill>
                  <a:srgbClr val="AAB7CF"/>
                </a:solidFill>
              </a:rPr>
              <a:t>Naritai / 成長カルテ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1BD5CE-8EED-4D59-B59D-C9E158216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AB7CF"/>
                </a:solidFill>
              </a:defRPr>
            </a:pPr>
            <a:r>
              <a:rPr sz="900" b="1">
                <a:solidFill>
                  <a:srgbClr val="AAB7CF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D2304B-03FE-4070-BD53-8304CA75A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287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辞める理由を、残る意思と行動に変えた。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222787-7ADA-463F-93A9-996497D9E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7CF"/>
                </a:solidFill>
              </a:defRPr>
            </a:pPr>
            <a:r>
              <a:rPr sz="1350" b="0">
                <a:solidFill>
                  <a:srgbClr val="AAB7CF"/>
                </a:solidFill>
              </a:rPr>
              <a:t>ケースは個人を特定しない形で要約しています。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21467C-A385-4415-8E31-F97FF3DAB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4914900" cy="25146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11D3B"/>
          </a:solidFill>
          <a:ln xmlns:a="http://schemas.openxmlformats.org/drawingml/2006/main" w="9525">
            <a:solidFill>
              <a:srgbClr val="25345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0F3CAC-DD19-4823-960C-EB0F488C2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99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AB7CF"/>
                </a:solidFill>
              </a:defRPr>
            </a:pPr>
            <a:r>
              <a:rPr sz="1125" b="1">
                <a:solidFill>
                  <a:srgbClr val="AAB7CF"/>
                </a:solidFill>
              </a:rPr>
              <a:t>営業代行 / 24歳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108CCE-E3C5-4DBE-9A44-67C565BB6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9E0B"/>
                </a:solidFill>
              </a:defRPr>
            </a:pPr>
            <a:r>
              <a:rPr sz="900" b="1">
                <a:solidFill>
                  <a:srgbClr val="F59E0B"/>
                </a:solidFill>
              </a:rPr>
              <a:t>BEFORE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3F4793-F81E-4071-966D-61105A948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1857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転職サイト登録・消耗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845E10-E3C9-4691-8C72-068AA82A8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70522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B981"/>
                </a:solidFill>
              </a:defRPr>
            </a:pPr>
            <a:r>
              <a:rPr sz="1725" b="1">
                <a:solidFill>
                  <a:srgbClr val="10B981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4DEEAE-9487-44E8-A7D4-6038DEA41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4290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B981"/>
                </a:solidFill>
              </a:defRPr>
            </a:pPr>
            <a:r>
              <a:rPr sz="900" b="1">
                <a:solidFill>
                  <a:srgbClr val="10B981"/>
                </a:solidFill>
              </a:rPr>
              <a:t>AFTER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452A2A-F478-41DE-8023-8FF4250DD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676650"/>
            <a:ext cx="1790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在籍継続・主体化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9C5330-6494-44CD-99B4-EFF289B10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33875"/>
            <a:ext cx="438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45B"/>
          </a:solidFill>
          <a:ln xmlns:a="http://schemas.openxmlformats.org/drawingml/2006/main" w="0">
            <a:solidFill>
              <a:srgbClr val="25345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5B2F24-9F32-4AA8-8621-6E966DAEB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43425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7CF"/>
                </a:solidFill>
              </a:defRPr>
            </a:pPr>
            <a:r>
              <a:rPr sz="1125" b="0">
                <a:solidFill>
                  <a:srgbClr val="AAB7CF"/>
                </a:solidFill>
              </a:rPr>
              <a:t>3年後の理想から逆算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7E10D3-3CDA-47C4-95A9-4997B8629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733675"/>
            <a:ext cx="4914900" cy="25146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11D3B"/>
          </a:solidFill>
          <a:ln xmlns:a="http://schemas.openxmlformats.org/drawingml/2006/main" w="9525">
            <a:solidFill>
              <a:srgbClr val="25345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837FB1-FC94-4AE3-8C38-7E4D5F0B5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099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AB7CF"/>
                </a:solidFill>
              </a:defRPr>
            </a:pPr>
            <a:r>
              <a:rPr sz="1125" b="1">
                <a:solidFill>
                  <a:srgbClr val="AAB7CF"/>
                </a:solidFill>
              </a:rPr>
              <a:t>飲食店舗 / 27歳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054B0A-2B8F-4AB6-ABA1-BDFC0E1B7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290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9E0B"/>
                </a:solidFill>
              </a:defRPr>
            </a:pPr>
            <a:r>
              <a:rPr sz="900" b="1">
                <a:solidFill>
                  <a:srgbClr val="F59E0B"/>
                </a:solidFill>
              </a:rPr>
              <a:t>BEFORE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2383B4-9E17-437F-962A-E4E62E0AC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76650"/>
            <a:ext cx="1857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抱え込み・部下と摩擦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A96F5B-F9D9-4141-AD72-5F68FB9FE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70522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B981"/>
                </a:solidFill>
              </a:defRPr>
            </a:pPr>
            <a:r>
              <a:rPr sz="1725" b="1">
                <a:solidFill>
                  <a:srgbClr val="10B981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B9C30B-76B1-40B4-B8C1-63C38DDE1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4290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B981"/>
                </a:solidFill>
              </a:defRPr>
            </a:pPr>
            <a:r>
              <a:rPr sz="900" b="1">
                <a:solidFill>
                  <a:srgbClr val="10B981"/>
                </a:solidFill>
              </a:rPr>
              <a:t>AFTER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4CA1C6-4505-4510-8DF3-962A750DC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76650"/>
            <a:ext cx="1790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任せるリーダーへ</a:t>
            </a:r>
          </a:p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（役員候補）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EF6E03-4C05-4F2C-B4E3-19E9433FE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33875"/>
            <a:ext cx="438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45B"/>
          </a:solidFill>
          <a:ln xmlns:a="http://schemas.openxmlformats.org/drawingml/2006/main" w="0">
            <a:solidFill>
              <a:srgbClr val="25345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18C2B4-4905-4A9C-814D-119819F20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43425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7CF"/>
                </a:solidFill>
              </a:defRPr>
            </a:pPr>
            <a:r>
              <a:rPr sz="1125" b="0">
                <a:solidFill>
                  <a:srgbClr val="AAB7CF"/>
                </a:solidFill>
              </a:rPr>
              <a:t>他責を脱し、対話を再設計</a:t>
            </a:r>
          </a:p>
        </p:txBody>
      </p:sp>
    </p:spTree>
    <p:extLst>
      <p:ext uri="{BB962C8B-B14F-4D97-AF65-F5344CB8AC3E}">
        <p14:creationId xmlns:p14="http://schemas.microsoft.com/office/powerpoint/2010/main" val="209701487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A11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679BD2-FEA9-4920-A428-90084C9CB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A0C5AE-86AD-442F-830E-6889C0668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48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AB7CF"/>
                </a:solidFill>
              </a:defRPr>
            </a:pPr>
            <a:r>
              <a:rPr sz="900" b="1">
                <a:solidFill>
                  <a:srgbClr val="AAB7CF"/>
                </a:solidFill>
              </a:rPr>
              <a:t>OPERATIONAL VALUE / 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F24014-3EA7-4A92-8A94-86B36D7A0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286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AB7CF"/>
                </a:solidFill>
              </a:defRPr>
            </a:pPr>
            <a:r>
              <a:rPr sz="825" b="0">
                <a:solidFill>
                  <a:srgbClr val="AAB7CF"/>
                </a:solidFill>
              </a:rPr>
              <a:t>Naritai / 成長カルテ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56C36D-0A8D-401B-B8BF-952F7E5FF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AB7CF"/>
                </a:solidFill>
              </a:defRPr>
            </a:pPr>
            <a:r>
              <a:rPr sz="900" b="1">
                <a:solidFill>
                  <a:srgbClr val="AAB7CF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5D4CFF-55D8-45B0-989D-E5E1949FD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287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管理職の負担を増やさず、育成を資産にする。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3DDB75-3A8D-47A4-A92D-2374A596B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7CF"/>
                </a:solidFill>
              </a:defRPr>
            </a:pPr>
            <a:r>
              <a:rPr sz="1350" b="0">
                <a:solidFill>
                  <a:srgbClr val="AAB7CF"/>
                </a:solidFill>
              </a:rPr>
              <a:t>現場に「新しい仕事」を足さないから、仕組みが続く。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1F5B5B-13AE-4DD4-99D7-BE0BCC7B0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3009900" cy="2076450"/>
          </a:xfrm>
          <a:prstGeom xmlns:a="http://schemas.openxmlformats.org/drawingml/2006/main" prst="roundRect">
            <a:avLst>
              <a:gd name="adj" fmla="val 7339"/>
            </a:avLst>
          </a:prstGeom>
          <a:solidFill xmlns:a="http://schemas.openxmlformats.org/drawingml/2006/main">
            <a:srgbClr val="111D3B"/>
          </a:solidFill>
          <a:ln xmlns:a="http://schemas.openxmlformats.org/drawingml/2006/main" w="9525">
            <a:solidFill>
              <a:srgbClr val="25345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F6F38B-0321-46A3-A531-3A8A42A33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114675"/>
            <a:ext cx="714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B981"/>
                </a:solidFill>
              </a:defRPr>
            </a:pPr>
            <a:r>
              <a:rPr sz="2850" b="1">
                <a:solidFill>
                  <a:srgbClr val="10B981"/>
                </a:solidFill>
              </a:rPr>
              <a:t>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B4C89D-900A-45DA-B7A0-9A552026A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7909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面談準備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EC6D92-598E-4F33-9BAE-68B4E6826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2481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7CF"/>
                </a:solidFill>
              </a:defRPr>
            </a:pPr>
            <a:r>
              <a:rPr sz="1125" b="0">
                <a:solidFill>
                  <a:srgbClr val="AAB7CF"/>
                </a:solidFill>
              </a:rPr>
              <a:t>カルテに効く問いが表示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2F3A1D-1B02-4285-85B9-73A7D66EF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857500"/>
            <a:ext cx="3009900" cy="2076450"/>
          </a:xfrm>
          <a:prstGeom xmlns:a="http://schemas.openxmlformats.org/drawingml/2006/main" prst="roundRect">
            <a:avLst>
              <a:gd name="adj" fmla="val 7339"/>
            </a:avLst>
          </a:prstGeom>
          <a:solidFill xmlns:a="http://schemas.openxmlformats.org/drawingml/2006/main">
            <a:srgbClr val="111D3B"/>
          </a:solidFill>
          <a:ln xmlns:a="http://schemas.openxmlformats.org/drawingml/2006/main" w="9525">
            <a:solidFill>
              <a:srgbClr val="25345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0212CC-060B-42C5-A78C-BF1516B42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114675"/>
            <a:ext cx="714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9E0B"/>
                </a:solidFill>
              </a:defRPr>
            </a:pPr>
            <a:r>
              <a:rPr sz="2850" b="1">
                <a:solidFill>
                  <a:srgbClr val="F59E0B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4379B2-B6EB-4C5D-AABF-35FD503ED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7909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やりっぱなし防止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98EACD-F89D-403A-A99A-D73BCA6C3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2481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7CF"/>
                </a:solidFill>
              </a:defRPr>
            </a:pPr>
            <a:r>
              <a:rPr sz="1125" b="0">
                <a:solidFill>
                  <a:srgbClr val="AAB7CF"/>
                </a:solidFill>
              </a:rPr>
              <a:t>次回までの変化を追える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A69E14-F4CE-449B-9E7D-4E6A024DE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57500"/>
            <a:ext cx="3009900" cy="2076450"/>
          </a:xfrm>
          <a:prstGeom xmlns:a="http://schemas.openxmlformats.org/drawingml/2006/main" prst="roundRect">
            <a:avLst>
              <a:gd name="adj" fmla="val 7339"/>
            </a:avLst>
          </a:prstGeom>
          <a:solidFill xmlns:a="http://schemas.openxmlformats.org/drawingml/2006/main">
            <a:srgbClr val="111D3B"/>
          </a:solidFill>
          <a:ln xmlns:a="http://schemas.openxmlformats.org/drawingml/2006/main" w="9525">
            <a:solidFill>
              <a:srgbClr val="25345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29C473-2303-4B79-AF97-A8544D6F2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114675"/>
            <a:ext cx="714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9E0B"/>
                </a:solidFill>
              </a:defRPr>
            </a:pPr>
            <a:r>
              <a:rPr sz="2850" b="1">
                <a:solidFill>
                  <a:srgbClr val="F59E0B"/>
                </a:solidFill>
              </a:rPr>
              <a:t>∞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343364-3613-4889-8062-5E017F112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7909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育成履歴の資産化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1ABFF4-33B1-48F3-A45D-9DAFD25A2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2481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7CF"/>
                </a:solidFill>
              </a:defRPr>
            </a:pPr>
            <a:r>
              <a:rPr sz="1125" b="0">
                <a:solidFill>
                  <a:srgbClr val="AAB7CF"/>
                </a:solidFill>
              </a:rPr>
              <a:t>内製化できる育成知見へ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3AEAE1-8312-4F90-9E52-A2B82D227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95925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B981"/>
                </a:solidFill>
              </a:defRPr>
            </a:pPr>
            <a:r>
              <a:rPr sz="1425" b="1">
                <a:solidFill>
                  <a:srgbClr val="10B981"/>
                </a:solidFill>
              </a:rPr>
              <a:t>管理職は「聞くべきこと」に集中。育成は属人化せず、再現可能になる。</a:t>
            </a:r>
          </a:p>
        </p:txBody>
      </p:sp>
    </p:spTree>
    <p:extLst>
      <p:ext uri="{BB962C8B-B14F-4D97-AF65-F5344CB8AC3E}">
        <p14:creationId xmlns:p14="http://schemas.microsoft.com/office/powerpoint/2010/main" val="169519257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A11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A91883-77E3-4A1B-B270-7F71D56E6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86BADC-D420-47B7-9BE0-D5E20B936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48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AB7CF"/>
                </a:solidFill>
              </a:defRPr>
            </a:pPr>
            <a:r>
              <a:rPr sz="900" b="1">
                <a:solidFill>
                  <a:srgbClr val="AAB7CF"/>
                </a:solidFill>
              </a:rPr>
              <a:t>PLAN &amp; CTA /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679CDA-6C62-40B5-B62C-7378026B7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286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AB7CF"/>
                </a:solidFill>
              </a:defRPr>
            </a:pPr>
            <a:r>
              <a:rPr sz="825" b="0">
                <a:solidFill>
                  <a:srgbClr val="AAB7CF"/>
                </a:solidFill>
              </a:rPr>
              <a:t>Naritai / 成長カルテ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69AD5F-1275-443A-B258-125E3F18E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AB7CF"/>
                </a:solidFill>
              </a:defRPr>
            </a:pPr>
            <a:r>
              <a:rPr sz="900" b="1">
                <a:solidFill>
                  <a:srgbClr val="AAB7CF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871660-B881-4EDC-8C39-EFBEDED01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6286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FFFFFF"/>
                </a:solidFill>
              </a:defRPr>
            </a:pPr>
            <a:r>
              <a:rPr sz="4125" b="1">
                <a:solidFill>
                  <a:srgbClr val="FFFFFF"/>
                </a:solidFill>
              </a:rPr>
              <a:t>人材投資の回収を、</a:t>
            </a:r>
          </a:p>
          <a:p xmlns:a="http://schemas.openxmlformats.org/drawingml/2006/main">
            <a:pPr algn="l">
              <a:defRPr sz="4125" b="1">
                <a:solidFill>
                  <a:srgbClr val="FFFFFF"/>
                </a:solidFill>
              </a:defRPr>
            </a:pPr>
            <a:r>
              <a:rPr sz="4125" b="1">
                <a:solidFill>
                  <a:srgbClr val="FFFFFF"/>
                </a:solidFill>
              </a:rPr>
              <a:t>始めましょう。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1E83E1-4BA8-4137-B79C-0653F81B3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1462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9E0B"/>
                </a:solidFill>
              </a:defRPr>
            </a:pPr>
            <a:r>
              <a:rPr sz="1650" b="1">
                <a:solidFill>
                  <a:srgbClr val="F59E0B"/>
                </a:solidFill>
              </a:rPr>
              <a:t>初期費用 0 円。まずは3ヶ月・3名から。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E50A9F-32C8-4703-B8BA-EA7EF820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327660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111D3B"/>
          </a:solidFill>
          <a:ln xmlns:a="http://schemas.openxmlformats.org/drawingml/2006/main" w="9525">
            <a:solidFill>
              <a:srgbClr val="25345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97DBC9-4600-459B-8199-C22105B81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719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9E0B"/>
                </a:solidFill>
              </a:defRPr>
            </a:pPr>
            <a:r>
              <a:rPr sz="900" b="1">
                <a:solidFill>
                  <a:srgbClr val="F59E0B"/>
                </a:solidFill>
              </a:rPr>
              <a:t>STANDARD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205B74-A403-4428-95D4-E49F61F73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月額 165,000円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3A49A5-33DA-41E9-A392-77D7ACA17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4342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7CF"/>
                </a:solidFill>
              </a:defRPr>
            </a:pPr>
            <a:r>
              <a:rPr sz="1125" b="0">
                <a:solidFill>
                  <a:srgbClr val="AAB7CF"/>
                </a:solidFill>
              </a:rPr>
              <a:t>3ヶ月パイロット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2E2C68-A95B-4445-ABB8-64EF0DE40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67100"/>
            <a:ext cx="327660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142A51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AB2DE0-66BA-434A-BF60-09D9EA475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7719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B981"/>
                </a:solidFill>
              </a:defRPr>
            </a:pPr>
            <a:r>
              <a:rPr sz="900" b="1">
                <a:solidFill>
                  <a:srgbClr val="10B981"/>
                </a:solidFill>
              </a:rPr>
              <a:t>PREMIUM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467528-F5E4-4FAB-A02E-252616A0A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0957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月額 150,000円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9A7D58-0EBE-4AED-8B59-EF246148B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54342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7CF"/>
                </a:solidFill>
              </a:defRPr>
            </a:pPr>
            <a:r>
              <a:rPr sz="1125" b="0">
                <a:solidFill>
                  <a:srgbClr val="AAB7CF"/>
                </a:solidFill>
              </a:rPr>
              <a:t>継続導入プラン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98997C-E4AC-4D6C-97AA-840241CEF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43250"/>
            <a:ext cx="2914650" cy="219075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E7BEB2-8D43-4E1F-9461-62DB35B5E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486150"/>
            <a:ext cx="209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1128"/>
                </a:solidFill>
              </a:defRPr>
            </a:pPr>
            <a:r>
              <a:rPr sz="1350" b="1">
                <a:solidFill>
                  <a:srgbClr val="0A1128"/>
                </a:solidFill>
              </a:rPr>
              <a:t>無料診断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C8EA1E-82FE-406A-AF05-473932E4B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67150"/>
            <a:ext cx="2190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A1128"/>
                </a:solidFill>
              </a:defRPr>
            </a:pPr>
            <a:r>
              <a:rPr sz="2100" b="1">
                <a:solidFill>
                  <a:srgbClr val="0A1128"/>
                </a:solidFill>
              </a:rPr>
              <a:t>自社の離職・</a:t>
            </a:r>
          </a:p>
          <a:p xmlns:a="http://schemas.openxmlformats.org/drawingml/2006/main">
            <a:pPr algn="l">
              <a:defRPr sz="2100" b="1">
                <a:solidFill>
                  <a:srgbClr val="0A1128"/>
                </a:solidFill>
              </a:defRPr>
            </a:pPr>
            <a:r>
              <a:rPr sz="2100" b="1">
                <a:solidFill>
                  <a:srgbClr val="0A1128"/>
                </a:solidFill>
              </a:rPr>
              <a:t>未回収コストを</a:t>
            </a:r>
          </a:p>
          <a:p xmlns:a="http://schemas.openxmlformats.org/drawingml/2006/main">
            <a:pPr algn="l">
              <a:defRPr sz="2100" b="1">
                <a:solidFill>
                  <a:srgbClr val="0A1128"/>
                </a:solidFill>
              </a:defRPr>
            </a:pPr>
            <a:r>
              <a:rPr sz="2100" b="1">
                <a:solidFill>
                  <a:srgbClr val="0A1128"/>
                </a:solidFill>
              </a:rPr>
              <a:t>診断してみる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C156B6-9AF4-4B7E-85FE-EB043BD8F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9530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A1128"/>
                </a:solidFill>
              </a:defRPr>
            </a:pPr>
            <a:r>
              <a:rPr sz="975" b="1">
                <a:solidFill>
                  <a:srgbClr val="0A1128"/>
                </a:solidFill>
              </a:rPr>
              <a:t>CONTACT 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CBBEBE-A1D0-4CE8-9A34-17702B81D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Naritai / 成長カルテ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2107E6-5467-47DA-AA59-2280EAB19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7CF"/>
                </a:solidFill>
              </a:defRPr>
            </a:pPr>
            <a:r>
              <a:rPr sz="1125" b="0">
                <a:solidFill>
                  <a:srgbClr val="AAB7CF"/>
                </a:solidFill>
              </a:rPr>
              <a:t>人材投資を、回収できる組織へ。</a:t>
            </a:r>
          </a:p>
        </p:txBody>
      </p:sp>
    </p:spTree>
    <p:extLst>
      <p:ext uri="{BB962C8B-B14F-4D97-AF65-F5344CB8AC3E}">
        <p14:creationId xmlns:p14="http://schemas.microsoft.com/office/powerpoint/2010/main" val="5151790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2026-08-31T07:35:19.3250000Z</dcterms:created>
  <dcterms:modified xsi:type="dcterms:W3CDTF">2026-08-31T07:35:19.3250000Z</dcterms:modified>
</coreProperties>
</file>